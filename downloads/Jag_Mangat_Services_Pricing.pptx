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ebfx.com/web-design/pricing/website-costs/" TargetMode="External"/><Relationship Id="rId2" Type="http://schemas.openxmlformats.org/officeDocument/2006/relationships/hyperlink" Target="https://gruffygoat.com/blog/small-business-website-cost" TargetMode="External"/><Relationship Id="rId3" Type="http://schemas.openxmlformats.org/officeDocument/2006/relationships/hyperlink" Target="https://designrush.com/agency/website-design-development" TargetMode="External"/><Relationship Id="rId4" Type="http://schemas.openxmlformats.org/officeDocument/2006/relationships/hyperlink" Target="https://onelittleweb.com/data-studies/website-design-cost/" TargetMode="External"/><Relationship Id="rId5" Type="http://schemas.openxmlformats.org/officeDocument/2006/relationships/hyperlink" Target="https://webfx.com/local-seo/pricing/" TargetMode="External"/><Relationship Id="rId6" Type="http://schemas.openxmlformats.org/officeDocument/2006/relationships/hyperlink" Target="https://seoprofy.com/blog/local-seo-pricing/" TargetMode="External"/><Relationship Id="rId7" Type="http://schemas.openxmlformats.org/officeDocument/2006/relationships/hyperlink" Target="https://gravitatedesign.com/blog/website-maintenance-cost-guide/" TargetMode="External"/><Relationship Id="rId8" Type="http://schemas.openxmlformats.org/officeDocument/2006/relationships/hyperlink" Target="https://tuesday.is/blog/website-maintenance-pricing-guide-2026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mailto:jag@jaggyai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FF6B35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9B5DE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JAG MANGAT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digital, </a:t>
            </a:r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AI.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  ·  SEO  ·  Branding &amp; Graphic Design  ·  AI Automation  ·  Social Growth  ·  Apps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jag@jaggyai.com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03320" y="438912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jaggyai.github.io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Victoria, BC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 &amp; Pricing Guide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partner for everything digital.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and growth — handled by one person who actually does the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Design &amp; 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mobile-first, conversion-focused websites built to turn visitors into customers.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4864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205740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27448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&amp; Local 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Google, get found by the customers already searching for you.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53128" y="2286000"/>
            <a:ext cx="54864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205740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0496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40496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Branding &amp; Graphic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0496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brand identity, social graphics, and ad creative that look premium.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66176" y="2286000"/>
            <a:ext cx="54864" cy="5486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361688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5902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Content &amp; Automation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6875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systems that run themselves — the same ones I run my own businesses 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90288"/>
            <a:ext cx="54864" cy="54864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3128" y="4361688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27448" y="45902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727448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Growth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27448" y="56875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that convert. I grew a channel to 55K+ subscribers.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53128" y="4590288"/>
            <a:ext cx="54864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Shape 28"/>
          <p:cNvSpPr/>
          <p:nvPr/>
        </p:nvSpPr>
        <p:spPr>
          <a:xfrm>
            <a:off x="8266176" y="4361688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40496" y="45902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540496" y="5230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Apps &amp; Digital Products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40496" y="56875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apps and custom tools — shipped to the App Store &amp; Google Play.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66176" y="4590288"/>
            <a:ext cx="54864" cy="548640"/>
          </a:xfrm>
          <a:prstGeom prst="rect">
            <a:avLst/>
          </a:prstGeom>
          <a:solidFill>
            <a:srgbClr val="06D6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Proof, not promises.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9172" cy="1828800"/>
          </a:xfrm>
          <a:prstGeom prst="roundRect">
            <a:avLst>
              <a:gd name="adj" fmla="val 45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25191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1,400+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15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built &amp; deployed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33572" y="1828800"/>
            <a:ext cx="2519172" cy="1828800"/>
          </a:xfrm>
          <a:prstGeom prst="roundRect">
            <a:avLst>
              <a:gd name="adj" fmla="val 45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3572" y="2057400"/>
            <a:ext cx="25191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55K+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16452" y="2971800"/>
            <a:ext cx="215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grown (YouTube)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828800"/>
            <a:ext cx="2519172" cy="1828800"/>
          </a:xfrm>
          <a:prstGeom prst="roundRect">
            <a:avLst>
              <a:gd name="adj" fmla="val 45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27064" y="2057400"/>
            <a:ext cx="25191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9944" y="2971800"/>
            <a:ext cx="215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businesses operated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20556" y="1828800"/>
            <a:ext cx="2519172" cy="1828800"/>
          </a:xfrm>
          <a:prstGeom prst="roundRect">
            <a:avLst>
              <a:gd name="adj" fmla="val 45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0556" y="2057400"/>
            <a:ext cx="25191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B5D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03436" y="2971800"/>
            <a:ext cx="215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SEO ready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08792" cy="2103120"/>
          </a:xfrm>
          <a:prstGeom prst="roundRect">
            <a:avLst>
              <a:gd name="adj" fmla="val 3913"/>
            </a:avLst>
          </a:prstGeom>
          <a:solidFill>
            <a:srgbClr val="1E1E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1,400-site project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industries and 14 BC cities, I designed and deployed over 1,400 fully personalized, mobile-responsive business websites — each custom-branded with the business's name, services, and contact info, structured for SEO, and live on the web.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same quality I bring to every single client site.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MARKET CHARGES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Websites — going market rates.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DIY Builder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6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$20–$50/mo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/ Squarespace. You build it, you maintain it, it looks like a template.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98848" y="18745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Freelancer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18888" y="2606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$1,500–$8,000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18888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design, 4–6 week turnaround, limited support after launch.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57616" y="187452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77656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77656" y="26060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$6,000–$15,000+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77656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team, strategy &amp; copywriting. Packages typically start at $6,000.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professional small-business builds land between $3,000 and $15,000. Agency packages start ~$6,000; freelancers bill $50–$150/hr.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WebFX, GruffyGoat, DesignRush, OneLittleWeb — 2026 web design cost studies (full links on the References slide).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MARKET CHARGES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&amp; monthly care — market rates.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Local SEO (monthly)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$2,000–$2,500/mo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…is what single-location service businesses (plumbers, HVAC, contractors) typically invest. Most SMBs run $1,500–$5,000/mo.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Google Business optimization, content, citations, reviews &amp; reporting.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87452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Website Care Plans (monthly)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73952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$300–$600/mo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73952" y="3429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…is what most small businesses pay for a quality care plan. Agency retainers start at $500/mo and climb to $3,000–$5,000.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47091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updates, backups, security &amp; ongoing edits — recurring revenue for the builder.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WebFX Local SEO, SEOProfy, Gravitate, Tuesday.is — 2026 SEO &amp; maintenance pricing guides.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CHARGE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One-time website builds.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Agency-quality work. Freelancer pricing. AI speed.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A6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$990</a:t>
            </a:r>
            <a:pPr indent="0" marL="0">
              <a:buNone/>
            </a:pPr>
            <a:r>
              <a:rPr lang="en-US" sz="1300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one-time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60120" y="3611880"/>
            <a:ext cx="29718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490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professional site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Click-to-call + contact form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SEO-structured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98848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E1E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E1E22">
              <a:alpha val="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8888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18888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$1,900</a:t>
            </a:r>
            <a:pPr indent="0" marL="0">
              <a:buNone/>
            </a:pPr>
            <a:r>
              <a:rPr lang="en-US" sz="1300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one-time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4818888" y="3611880"/>
            <a:ext cx="29718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37490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website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copywriting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setup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57616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77656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77656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$3,500</a:t>
            </a:r>
            <a:pPr indent="0" marL="0">
              <a:buNone/>
            </a:pPr>
            <a:r>
              <a:rPr lang="en-US" sz="1300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one-time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8677656" y="3611880"/>
            <a:ext cx="29718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77656" y="37490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multi-page site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+ logo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e-commerce ready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delivery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CHARGE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Website-as-a-Service (recurring).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upfront. Predictable monthly. I handle everything — you focus on your business.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A6A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</a:t>
            </a:r>
            <a:pPr indent="0" marL="0">
              <a:buNone/>
            </a:pPr>
            <a:r>
              <a:rPr lang="en-US" sz="1500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down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703320"/>
            <a:ext cx="29718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840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website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domain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backups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edits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98848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E1E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8848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E1E22">
              <a:alpha val="0"/>
            </a:srgbClr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187452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874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23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$199</a:t>
            </a:r>
            <a:pPr indent="0" marL="0">
              <a:buNone/>
            </a:pPr>
            <a:r>
              <a:rPr lang="en-US" sz="1500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/mo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818888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 setup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18888" y="3703320"/>
            <a:ext cx="29718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840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mgmt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reporting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57616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77656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77656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$349</a:t>
            </a:r>
            <a:pPr indent="0" marL="0">
              <a:buNone/>
            </a:pPr>
            <a:r>
              <a:rPr lang="en-US" sz="1500" dirty="0">
                <a:solidFill>
                  <a:srgbClr val="A0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/mo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677656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setup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77656" y="3703320"/>
            <a:ext cx="29718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77656" y="38404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blog posts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assets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support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ADD-ON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Bolt-on anytime.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Logo &amp; Brand Package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807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$400–$800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98848" y="205740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596128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SEO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96128" y="2807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$400/mo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57616" y="205740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31936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454896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Business Setup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54896" y="2807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3736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Automation Setup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590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$750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98848" y="384048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96128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/ Blog Writing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96128" y="4590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$300/mo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57616" y="384048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31936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454896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Graphics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54896" y="4590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$250/mo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match. Most clients start with a website, then add SEO + a care plan once the leads start coming in.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WORK WITH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builder, not a middleman.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94376" cy="1645920"/>
          </a:xfrm>
          <a:prstGeom prst="roundRect">
            <a:avLst>
              <a:gd name="adj" fmla="val 5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2024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Genuinely Fast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ship in days, not months. AI-powered workflows mean premium work at startup speed.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344" y="1965960"/>
            <a:ext cx="5294376" cy="1645920"/>
          </a:xfrm>
          <a:prstGeom prst="roundRect">
            <a:avLst>
              <a:gd name="adj" fmla="val 5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1384" y="2423160"/>
            <a:ext cx="777240" cy="777240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61504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Convert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61504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ties to one thing: turning your visitors into paying customers.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94376" cy="1645920"/>
          </a:xfrm>
          <a:prstGeom prst="roundRect">
            <a:avLst>
              <a:gd name="adj" fmla="val 5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97680"/>
            <a:ext cx="777240" cy="777240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Directly With 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617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managers, no outsourcing. You talk to the person doing the work.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4" y="3840480"/>
            <a:ext cx="5294376" cy="1645920"/>
          </a:xfrm>
          <a:prstGeom prst="roundRect">
            <a:avLst>
              <a:gd name="adj" fmla="val 5000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1384" y="4297680"/>
            <a:ext cx="777240" cy="777240"/>
          </a:xfrm>
          <a:prstGeom prst="ellipse">
            <a:avLst/>
          </a:prstGeom>
          <a:solidFill>
            <a:srgbClr val="9B5DE5">
              <a:alpha val="18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61504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Skillset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61504" y="4617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dev, SEO, content &amp; automation under one roof. One partner for it all.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sources.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 figure in this deck is backed by published 2026 pricing studies: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939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WebFX — Website Cost Calculator 2026</a:t>
            </a:r>
            <a:endParaRPr lang="en-US" sz="13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932688" y="2404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webfx.com/web-design/pricing/website-costs/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81344" y="22402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20939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GruffyGoat — Small Business Website Costs 2026</a:t>
            </a:r>
            <a:endParaRPr lang="en-US" sz="135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73952" y="2404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gruffygoat.com/blog/small-business-website-cost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DesignRush — Freelance vs Agency Cost 2026</a:t>
            </a:r>
            <a:endParaRPr lang="en-US" sz="135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932688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designrush.com/agency/website-design-development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3172968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OneLittleWeb — Website Design Cost Study 2026</a:t>
            </a:r>
            <a:endParaRPr lang="en-US" sz="1350" dirty="0"/>
          </a:p>
        </p:txBody>
      </p:sp>
      <p:sp>
        <p:nvSpPr>
          <p:cNvPr id="16" name="Text 14">
            <a:hlinkClick r:id="rId4" tooltip=""/>
          </p:cNvPr>
          <p:cNvSpPr/>
          <p:nvPr/>
        </p:nvSpPr>
        <p:spPr>
          <a:xfrm>
            <a:off x="6473952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onelittleweb.com/data-studies/website-design-cost/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05656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9593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WebFX — Local SEO Pricing 2026</a:t>
            </a:r>
            <a:endParaRPr lang="en-US" sz="1350" dirty="0"/>
          </a:p>
        </p:txBody>
      </p:sp>
      <p:sp>
        <p:nvSpPr>
          <p:cNvPr id="19" name="Text 17">
            <a:hlinkClick r:id="rId5" tooltip=""/>
          </p:cNvPr>
          <p:cNvSpPr/>
          <p:nvPr/>
        </p:nvSpPr>
        <p:spPr>
          <a:xfrm>
            <a:off x="932688" y="4270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webfx.com/local-seo/pricing/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4105656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9593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SEOProfy — Local SEO Pricing Guide 2026</a:t>
            </a:r>
            <a:endParaRPr lang="en-US" sz="1350" dirty="0"/>
          </a:p>
        </p:txBody>
      </p:sp>
      <p:sp>
        <p:nvSpPr>
          <p:cNvPr id="22" name="Text 20">
            <a:hlinkClick r:id="rId6" tooltip=""/>
          </p:cNvPr>
          <p:cNvSpPr/>
          <p:nvPr/>
        </p:nvSpPr>
        <p:spPr>
          <a:xfrm>
            <a:off x="6473952" y="4270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seoprofy.com/blog/local-seo-pricing/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038344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Gravitate — Website Maintenance Cost 2026</a:t>
            </a:r>
            <a:endParaRPr lang="en-US" sz="1350" dirty="0"/>
          </a:p>
        </p:txBody>
      </p:sp>
      <p:sp>
        <p:nvSpPr>
          <p:cNvPr id="25" name="Text 23">
            <a:hlinkClick r:id="rId7" tooltip=""/>
          </p:cNvPr>
          <p:cNvSpPr/>
          <p:nvPr/>
        </p:nvSpPr>
        <p:spPr>
          <a:xfrm>
            <a:off x="932688" y="5202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gravitatedesign.com/blog/website-maintenance-cost-guide/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81344" y="5038344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Tuesday.is — Website Maintenance Pricing 2026</a:t>
            </a:r>
            <a:endParaRPr lang="en-US" sz="1350" dirty="0"/>
          </a:p>
        </p:txBody>
      </p:sp>
      <p:sp>
        <p:nvSpPr>
          <p:cNvPr id="28" name="Text 26">
            <a:hlinkClick r:id="rId8" tooltip=""/>
          </p:cNvPr>
          <p:cNvSpPr/>
          <p:nvPr/>
        </p:nvSpPr>
        <p:spPr>
          <a:xfrm>
            <a:off x="6473952" y="5202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tuesday.is/blog/website-maintenance-pricing-guide-2026/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2743200"/>
            <a:ext cx="6400800" cy="6400800"/>
          </a:xfrm>
          <a:prstGeom prst="ellipse">
            <a:avLst/>
          </a:prstGeom>
          <a:solidFill>
            <a:srgbClr val="FF6B35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something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actually works.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286000" y="397764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consultation is free. Send me a quick note about your business and I'll show you exactly what I'd build.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23360" y="4754880"/>
            <a:ext cx="4114800" cy="685800"/>
          </a:xfrm>
          <a:prstGeom prst="roundRect">
            <a:avLst>
              <a:gd name="adj" fmla="val 49333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4023360" y="4754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u="sng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  jag@jaggyai.com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jaggyai.github.io   ·   Victoria, BC   ·   Web · SEO · Branding · 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Jag Mangat — Digital Services &amp; Pricing</dc:title>
  <dc:subject>PptxGenJS Presentation</dc:subject>
  <dc:creator>Jag Mangat</dc:creator>
  <cp:lastModifiedBy>Jag Mangat</cp:lastModifiedBy>
  <cp:revision>1</cp:revision>
  <dcterms:created xsi:type="dcterms:W3CDTF">2026-05-29T01:13:20Z</dcterms:created>
  <dcterms:modified xsi:type="dcterms:W3CDTF">2026-05-29T01:13:20Z</dcterms:modified>
</cp:coreProperties>
</file>